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0" y="457200"/>
            <a:ext cx="3474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2040C5">
                    <a:alpha val="2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 }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em Ciência de Dados  ·  Universidade de Fortaleza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para
</a:t>
            </a:r>
            <a:pPr algn="l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32918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974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1  ·  19 de fevereiro de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Cássio Pinheiro Oliveira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36393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AI/ML Engineer  ·  Banco do Nordeste  ·  Doutorando FIOCRUZ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44805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13  ·  Programação para Ciência de Dados  ·  UNIFOR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o Professor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143000" cy="1143000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9728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737360" y="11155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Cássio Pinheiro Oliveira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1581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AI/ML Engineer  |  LLM Architect  |  Data Science &amp; Cloud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18836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Fortaleza, Ceará  ·  cassiopo7@gmail.com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 sênior com 17+ anos construindo soluções com Python em bancos, hospitais, laboratórios de pesquisa e universidades. Conecta ciência, dados e impacto real.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3127248"/>
            <a:ext cx="16459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3127248"/>
            <a:ext cx="1645920" cy="64008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2461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4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17+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" y="37033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94560" y="3127248"/>
            <a:ext cx="16459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94560" y="3127248"/>
            <a:ext cx="1645920" cy="64008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32461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4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194560" y="37033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77640" y="3127248"/>
            <a:ext cx="16459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77640" y="3127248"/>
            <a:ext cx="1645920" cy="64008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32461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4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FIOCRUZ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977640" y="37033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Doutorando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Biotecnologia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06440" y="1005840"/>
            <a:ext cx="2971800" cy="3840480"/>
          </a:xfrm>
          <a:prstGeom prst="rect">
            <a:avLst/>
          </a:prstGeom>
          <a:solidFill>
            <a:srgbClr val="D6E4FF"/>
          </a:solidFill>
          <a:ln w="12700">
            <a:solidFill>
              <a:srgbClr val="D6E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1888" y="1078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3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de Atuação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61888" y="15087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Finanças &amp; IA (Banco do Nordeste)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61888" y="19842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Saúde Digital &amp; Pesquisa (FIOCRUZ)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61888" y="245973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Biotecnologia &amp; Bioinformática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61888" y="293522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Análise de Redes Sociais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61888" y="34107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Docência: Estácio · UNIFOR MBA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61888" y="38862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Cloud · Docker · DevOps · APIs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Linguagem, Muitas Fronteiras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508760"/>
            <a:ext cx="1572768" cy="2880360"/>
          </a:xfrm>
          <a:prstGeom prst="rect">
            <a:avLst/>
          </a:prstGeom>
          <a:solidFill>
            <a:srgbClr val="2040C5">
              <a:alpha val="75000"/>
            </a:srgbClr>
          </a:solidFill>
          <a:ln w="12700">
            <a:solidFill>
              <a:srgbClr val="3D6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508760"/>
            <a:ext cx="1572768" cy="64008"/>
          </a:xfrm>
          <a:prstGeom prst="rect">
            <a:avLst/>
          </a:prstGeom>
          <a:solidFill>
            <a:srgbClr val="1E3FA1"/>
          </a:solidFill>
          <a:ln w="12700">
            <a:solidFill>
              <a:srgbClr val="1E3F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64208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🏦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24231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Finanças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20040" y="28620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· IA · Bancos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41832" y="3429000"/>
            <a:ext cx="329184" cy="329184"/>
          </a:xfrm>
          <a:prstGeom prst="ellipse">
            <a:avLst/>
          </a:prstGeom>
          <a:solidFill>
            <a:srgbClr val="1E3FA1"/>
          </a:solidFill>
          <a:ln w="12700">
            <a:solidFill>
              <a:srgbClr val="1E3FA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29968" y="1508760"/>
            <a:ext cx="1572768" cy="2880360"/>
          </a:xfrm>
          <a:prstGeom prst="rect">
            <a:avLst/>
          </a:prstGeom>
          <a:solidFill>
            <a:srgbClr val="2040C5">
              <a:alpha val="75000"/>
            </a:srgbClr>
          </a:solidFill>
          <a:ln w="12700">
            <a:solidFill>
              <a:srgbClr val="3D6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9968" y="1508760"/>
            <a:ext cx="1572768" cy="6400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29968" y="1664208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🏥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029968" y="24231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029968" y="28620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· Reabilitação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51760" y="3429000"/>
            <a:ext cx="329184" cy="329184"/>
          </a:xfrm>
          <a:prstGeom prst="ellipse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39896" y="1508760"/>
            <a:ext cx="1572768" cy="2880360"/>
          </a:xfrm>
          <a:prstGeom prst="rect">
            <a:avLst/>
          </a:prstGeom>
          <a:solidFill>
            <a:srgbClr val="2040C5">
              <a:alpha val="75000"/>
            </a:srgbClr>
          </a:solidFill>
          <a:ln w="12700">
            <a:solidFill>
              <a:srgbClr val="3D6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39896" y="1508760"/>
            <a:ext cx="1572768" cy="6400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9896" y="1664208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🧬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739896" y="24231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Biotecnologia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739896" y="28620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Genômica · Anticorpos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61688" y="3429000"/>
            <a:ext cx="329184" cy="329184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49824" y="1508760"/>
            <a:ext cx="1572768" cy="2880360"/>
          </a:xfrm>
          <a:prstGeom prst="rect">
            <a:avLst/>
          </a:prstGeom>
          <a:solidFill>
            <a:srgbClr val="2040C5">
              <a:alpha val="75000"/>
            </a:srgbClr>
          </a:solidFill>
          <a:ln w="12700">
            <a:solidFill>
              <a:srgbClr val="3D6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9824" y="1508760"/>
            <a:ext cx="1572768" cy="6400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9824" y="1664208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📡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449824" y="24231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Sociais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449824" y="28620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· Comportamento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71616" y="3429000"/>
            <a:ext cx="329184" cy="329184"/>
          </a:xfrm>
          <a:prstGeom prst="ellipse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59752" y="1508760"/>
            <a:ext cx="1572768" cy="2880360"/>
          </a:xfrm>
          <a:prstGeom prst="rect">
            <a:avLst/>
          </a:prstGeom>
          <a:solidFill>
            <a:srgbClr val="2040C5">
              <a:alpha val="75000"/>
            </a:srgbClr>
          </a:solidFill>
          <a:ln w="12700">
            <a:solidFill>
              <a:srgbClr val="3D6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59752" y="1508760"/>
            <a:ext cx="1572768" cy="64008"/>
          </a:xfrm>
          <a:prstGeom prst="rect">
            <a:avLst/>
          </a:prstGeom>
          <a:solidFill>
            <a:srgbClr val="1E5A2E"/>
          </a:solidFill>
          <a:ln w="12700">
            <a:solidFill>
              <a:srgbClr val="1E5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9752" y="1664208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🎓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159752" y="242316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159752" y="28620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· Robótica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781544" y="3429000"/>
            <a:ext cx="329184" cy="329184"/>
          </a:xfrm>
          <a:prstGeom prst="ellipse">
            <a:avLst/>
          </a:prstGeom>
          <a:solidFill>
            <a:srgbClr val="1E5A2E"/>
          </a:solidFill>
          <a:ln w="12700">
            <a:solidFill>
              <a:srgbClr val="1E5A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reais da prática profissional — você vai conhecer cada um deles a seguir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1E3FA1"/>
          </a:solidFill>
          <a:ln w="12700">
            <a:solidFill>
              <a:srgbClr val="1E3F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0" cy="1463040"/>
          </a:xfrm>
          <a:prstGeom prst="rect">
            <a:avLst/>
          </a:prstGeom>
          <a:solidFill>
            <a:srgbClr val="1E3FA1">
              <a:alpha val="70000"/>
            </a:srgbClr>
          </a:solidFill>
          <a:ln w="12700">
            <a:solidFill>
              <a:srgbClr val="1E3FA1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201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DO NORDESTE DO BRASIL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1440" y="548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🏦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" y="141732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Finanças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Banking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" y="20299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· IA · Pipelines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Dados · LLMs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26080" y="228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aplicado a: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658368"/>
            <a:ext cx="58978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0" y="658368"/>
            <a:ext cx="64008" cy="1024128"/>
          </a:xfrm>
          <a:prstGeom prst="rect">
            <a:avLst/>
          </a:prstGeom>
          <a:solidFill>
            <a:srgbClr val="1E3FA1"/>
          </a:solidFill>
          <a:ln w="12700">
            <a:solidFill>
              <a:srgbClr val="1E3F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7498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Risco de Crédito com Machine Learning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90672" y="103327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preditivos para avaliação de inadimplência e scoring de crédito — impactando milhares de operações no BNB.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90672" y="1399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3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Scikit-learn · SQL Server · DB2 · PostgreSQL · ETL Pipelines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0" y="1901952"/>
            <a:ext cx="58978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6080" y="1901952"/>
            <a:ext cx="64008" cy="1024128"/>
          </a:xfrm>
          <a:prstGeom prst="rect">
            <a:avLst/>
          </a:prstGeom>
          <a:solidFill>
            <a:srgbClr val="1E3FA1"/>
          </a:solidFill>
          <a:ln w="12700">
            <a:solidFill>
              <a:srgbClr val="1E3F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0672" y="19933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Documentos Contratuais com LLMs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90672" y="227685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RAG + GPT para extração e validação de campos em contratos e despachos jurídicos, reduzindo tempo de análise.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90672" y="264261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3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LangChain · GPT-4 · Mistral · PostgreSQL · Docker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26080" y="3145536"/>
            <a:ext cx="58978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26080" y="3145536"/>
            <a:ext cx="64008" cy="1024128"/>
          </a:xfrm>
          <a:prstGeom prst="rect">
            <a:avLst/>
          </a:prstGeom>
          <a:solidFill>
            <a:srgbClr val="1E3FA1"/>
          </a:solidFill>
          <a:ln w="12700">
            <a:solidFill>
              <a:srgbClr val="1E3F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90672" y="323697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Benchmarking de IAs Generativas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90672" y="35204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para avaliar precisão e confiabilidade de múltiplos LLMs em tarefas documentais bancárias.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90672" y="388620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3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Streamlit · Docker · AWS · Kubernetes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0" cy="1463040"/>
          </a:xfrm>
          <a:prstGeom prst="rect">
            <a:avLst/>
          </a:prstGeom>
          <a:solidFill>
            <a:srgbClr val="064E3B">
              <a:alpha val="70000"/>
            </a:srgbClr>
          </a:solidFill>
          <a:ln w="12700">
            <a:solidFill>
              <a:srgbClr val="064E3B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201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FIOCRUZ · HOSPITAIS · DADOS CLÍNICOS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1440" y="548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🏥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" y="141732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Medicina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" y="20299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· Reabilitação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Predição · Sensores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26080" y="228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aplicado a: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658368"/>
            <a:ext cx="58978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0" y="658368"/>
            <a:ext cx="64008" cy="102412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7498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Predição de Desfechos de COVID-19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90672" y="103327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ML para prever gravidade e mortalidade a partir de dados clínicos — parceria com a Secretaria de Saúde do Ceará.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90672" y="1399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Scikit-learn · XGBoost · Dados Clínicos · Secretaria Saúde 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0" y="1901952"/>
            <a:ext cx="58978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6080" y="1901952"/>
            <a:ext cx="64008" cy="102412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0672" y="19933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Reabilitação Pós-AVC com Realidade Virtual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90672" y="227685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computacional integrando Python e VR para neuroreabilitação motora de pacientes pós-AVC — pesquisa na FIOCRUZ.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90672" y="264261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Kinect · Realidade Virtual · Sinais Biológicos · FIOCRUZ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26080" y="3145536"/>
            <a:ext cx="58978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26080" y="3145536"/>
            <a:ext cx="64008" cy="102412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90672" y="323697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 Análise de Marcha Clínica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90672" y="35204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doenças neuromusculares via padrões de movimento, usando visão computacional. Publicado na SCOPUS.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90672" y="388620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OpenCV · Microsoft Kinect · Processamento de Sinais · SCOPUS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0" cy="1463040"/>
          </a:xfrm>
          <a:prstGeom prst="rect">
            <a:avLst/>
          </a:prstGeom>
          <a:solidFill>
            <a:srgbClr val="4C1D95">
              <a:alpha val="70000"/>
            </a:srgbClr>
          </a:solidFill>
          <a:ln w="12700">
            <a:solidFill>
              <a:srgbClr val="4C1D95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201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FIOCRUZ · MEDICINA DE PRECISÃO · GENÔMICA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1440" y="548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🧬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" y="141732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Biotecnologia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Bioinformática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" y="20299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Anticorpos · Genômica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Genéticos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26080" y="228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aplicado a: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658368"/>
            <a:ext cx="58978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0" y="658368"/>
            <a:ext cx="64008" cy="102412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7498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Computacional para Anticorpos CAR-T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90672" y="103327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Python para design de fragmentos scFv para terapia oncológica — algoritmos genéticos + sequenciamento NGS.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90672" y="1399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Algoritmos Genéticos · Bioinformática · NGS · FIOCRUZ Ceará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0" y="1901952"/>
            <a:ext cx="58978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6080" y="1901952"/>
            <a:ext cx="64008" cy="102412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0672" y="19933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Expressão Gênica e Redes Regulatórias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90672" y="227685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padrões em dados de RNA-seq para entender redes de regulação gênica em doenças autoimunes.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90672" y="264261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NetworkX · Análise de Redes · Bioinformática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26080" y="3145536"/>
            <a:ext cx="58978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26080" y="3145536"/>
            <a:ext cx="64008" cy="102412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90672" y="323697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Postural com Sensores Vestíveis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90672" y="35204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de sinais biomecânicos para análise de postura e equilíbrio. Artigo indexado na SCOPUS.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90672" y="388620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Sensores IMU · Processamento de Sinais · Publicação SCOPUS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0" cy="1463040"/>
          </a:xfrm>
          <a:prstGeom prst="rect">
            <a:avLst/>
          </a:prstGeom>
          <a:solidFill>
            <a:srgbClr val="7F1D1D">
              <a:alpha val="70000"/>
            </a:srgbClr>
          </a:solidFill>
          <a:ln w="12700">
            <a:solidFill>
              <a:srgbClr val="7F1D1D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201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REDES · COMPORTAMENTO ONLINE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1440" y="5486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📡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" y="1417320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Sociais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Saúde Pública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" y="20299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· Text Mining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· Políticas Públicas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26080" y="228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aplicado a: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0" y="658368"/>
            <a:ext cx="58978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0" y="658368"/>
            <a:ext cx="64008" cy="102412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7498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Combate a Fake News sobre Vacinação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90672" y="103327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Mineração de redes sociais para identificar e classificar padrões de desinformação anti-vacinação no Twitter/X.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90672" y="13990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NLP · BERT · Web Scraping · NetworkX · Análise de Redes Sociais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0" y="1901952"/>
            <a:ext cx="58978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6080" y="1901952"/>
            <a:ext cx="64008" cy="102412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0672" y="19933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Violência Obstétrica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90672" y="227685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e análise de relatos em redes sociais para apoio a políticas públicas de saúde da mulher — ABRASCO.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90672" y="264261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Spacy · Text Mining · Análise de Sentimento · ABRASCO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26080" y="3145536"/>
            <a:ext cx="58978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26080" y="3145536"/>
            <a:ext cx="64008" cy="102412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90672" y="323697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Epidemiológico via Dados Abertos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90672" y="352044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de bases públicas de saúde para gerar indicadores regionais de mortalidade e condições crônicas no Ceará.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90672" y="388620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OpenDataSUS · Geopandas · Visualização de Dados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Python importa para VOCÊ?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turma não é de TI — e esse é exatamente o ponto.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572768"/>
            <a:ext cx="41605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572768"/>
            <a:ext cx="4160520" cy="64008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007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Linguagem Humana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066544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lê quase como português. Você escreve o que quer fazer — não precisa ser especialista em TI para entender ou adaptar código.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73168" y="1572768"/>
            <a:ext cx="41605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1572768"/>
            <a:ext cx="4160520" cy="64008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7007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Ecossistema Universal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56048" y="2066544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uma biblioteca Python para quase tudo: finanças, saúde, biologia, marketing, engenharia, direito. A linguagem vai até você.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154680"/>
            <a:ext cx="41605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154680"/>
            <a:ext cx="4160520" cy="64008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826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Mercado: Linguagem #1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648456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é a linguagem mais demandada em Ciência de Dados e IA. Dominar o básico diferencia qualquer profissional hoje.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73168" y="3154680"/>
            <a:ext cx="416052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73168" y="3154680"/>
            <a:ext cx="4160520" cy="64008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32826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Automatize Decisões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56048" y="3648456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 dados do seu setor em dashboards, modelos e automações — sem depender 100% de uma equipe de TI.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da Disciplina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92240" y="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Módulos + Projeto Final  ·  7 Encontros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560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560320" cy="1234440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4356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encontros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19/02 (Qui)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7249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20/02 (Sex)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0540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21/02 (Sáb)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456432"/>
            <a:ext cx="237744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547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&amp; Estruturas de Dados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840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&amp; Funções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4133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&amp; Arquivos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71800" y="105156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71800" y="1051560"/>
            <a:ext cx="2011680" cy="12344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1143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63240" y="143560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Manipulação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Avançada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017520" y="19933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encontros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63240" y="2395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· 04/03 (Qua)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063240" y="27249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 · 05/03 (Qui)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063240" y="3127248"/>
            <a:ext cx="18288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3218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&amp; Arrays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63240" y="35112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DataFrames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63240" y="38039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Agrupamentos &amp; Joins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74920" y="1051560"/>
            <a:ext cx="1828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74920" y="1051560"/>
            <a:ext cx="1828800" cy="123444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1143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66360" y="143560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EDA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120640" y="19933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encontro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66360" y="23957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 · 06/03 (Sex)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166360" y="2798064"/>
            <a:ext cx="1645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66360" y="3182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66360" y="34747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Correlações &amp; Insights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95160" y="1051560"/>
            <a:ext cx="1828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995160" y="1051560"/>
            <a:ext cx="1828800" cy="1234440"/>
          </a:xfrm>
          <a:prstGeom prst="rect">
            <a:avLst/>
          </a:prstGeom>
          <a:solidFill>
            <a:srgbClr val="7D4E00"/>
          </a:solidFill>
          <a:ln w="12700">
            <a:solidFill>
              <a:srgbClr val="7D4E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86600" y="1143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086600" y="143560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7040880" y="19933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encontro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86600" y="23957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 · 07/03 (Sáb)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086600" y="2798064"/>
            <a:ext cx="16459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8660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dos 3 módulos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086600" y="3182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Documentação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086600" y="34747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Dados Real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18872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162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162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'Hello!')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Começar!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1 · Fundamentos Python &amp; Motivação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não é linguagem de TI — é linguagem de resolução de problemas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752344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Dados são a matéria-prima do século 21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26440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Em 7 encontros você vai sair sabendo fazer análises reais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44805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Cássio Pinheiro  ·  MBA Ciência de Dados  ·  UNIFOR  ·  Turma 13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828800" cy="347472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·  3 ENCONTROS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· Estruturas · Controle de Fluxo · Funções · Módulos · Arquivos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16736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com Python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2609088" cy="1261872"/>
          </a:xfrm>
          <a:prstGeom prst="rect">
            <a:avLst/>
          </a:prstGeom>
          <a:solidFill>
            <a:srgbClr val="0A1640"/>
          </a:solidFill>
          <a:ln w="19050">
            <a:solidFill>
              <a:srgbClr val="2040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788920"/>
            <a:ext cx="2609088" cy="292608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16352"/>
            <a:ext cx="242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· Encontro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3127248"/>
            <a:ext cx="242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Qui, 19 Fev 2026 (noite)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2426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Dados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Estruturas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7456" y="2788920"/>
            <a:ext cx="2609088" cy="1261872"/>
          </a:xfrm>
          <a:prstGeom prst="rect">
            <a:avLst/>
          </a:prstGeom>
          <a:solidFill>
            <a:srgbClr val="0A1640"/>
          </a:solidFill>
          <a:ln w="19050">
            <a:solidFill>
              <a:srgbClr val="2040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7456" y="2788920"/>
            <a:ext cx="2609088" cy="292608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8896" y="2816352"/>
            <a:ext cx="242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Encontro 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58896" y="3127248"/>
            <a:ext cx="242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Sex, 20 Fev 2026 (noite)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58896" y="3383280"/>
            <a:ext cx="2426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Funções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77712" y="2788920"/>
            <a:ext cx="2609088" cy="1261872"/>
          </a:xfrm>
          <a:prstGeom prst="rect">
            <a:avLst/>
          </a:prstGeom>
          <a:solidFill>
            <a:srgbClr val="0A1640"/>
          </a:solidFill>
          <a:ln w="19050">
            <a:solidFill>
              <a:srgbClr val="2040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77712" y="2788920"/>
            <a:ext cx="2609088" cy="292608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9152" y="2816352"/>
            <a:ext cx="242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· Encontro 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69152" y="3127248"/>
            <a:ext cx="2426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Sáb, 21 Fev 2026 (manhã)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69152" y="3383280"/>
            <a:ext cx="2426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Módulos, Arquivos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Erros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44805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Cássio Pinheiro  ·  MBA Ciência de Dados  ·  UNIFOR  ·  Turma 13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011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·  ENCONTRO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37160" y="548640"/>
            <a:ext cx="2697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Dados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Estruturas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37160" y="2029968"/>
            <a:ext cx="265176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213969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CONCEITOS-CHAVE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24688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int · float · str · bool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4592" y="29260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list · dict · tuple · set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4592" y="33832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f-strings &amp; format()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4592" y="38404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Mutabilidade vs imutável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7160" y="4800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FEV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54680" y="164592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4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Tipos, Variáveis e Estruturas de Dados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54680" y="640080"/>
            <a:ext cx="5806440" cy="235915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F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0984" y="694944"/>
            <a:ext cx="5513832" cy="2249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Tipos básicos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    = 'Ana Silva'          # str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   = 28                   # int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   = 9.3                  # float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ativo   = True                 # bool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Estruturas de dados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  = [10, 20, 30, 40]      # mutável, ordenada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tupla  = (10.5, -3.2)          # imutável, ordenada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dicio  = {'nome':'Ana', 'curso':'MBA'}  # chave-valor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conj   = {1, 2, 3, 2}          # {1, 2, 3} – sem dups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f-string (Python 3.6+)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print(f'{nome} tem {idade} anos – ativo: {ativo}')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310896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3108960"/>
            <a:ext cx="1874520" cy="347472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315468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 Dinâmica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3538728"/>
            <a:ext cx="1691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infere o tipo em tempo de execução.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type(28) → int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type('Ana') → str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type([]) → list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preciso declarar o tipo.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20640" y="310896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20640" y="3108960"/>
            <a:ext cx="1874520" cy="347472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315468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Mutabilidade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3538728"/>
            <a:ext cx="1691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MUTÁVEL → pode mudar: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dict, set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IMUTÁVEL → fixo: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str, int, float, tuple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em performance e segurança.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86600" y="310896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86600" y="3108960"/>
            <a:ext cx="1874520" cy="347472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315468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Prático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78040" y="3538728"/>
            <a:ext cx="1691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Usaremos Titanic: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PassengerId → int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      → str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        → float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    → bool (0/1)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Pclass      → int (1,2,3)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011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·  ENCONTRO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37160" y="548640"/>
            <a:ext cx="2697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Funções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37160" y="2029968"/>
            <a:ext cx="265176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213969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CONCEITOS-CHAVE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24688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if / elif / else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4592" y="29260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for · while · enumerate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4592" y="33832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List &amp; dict comprehension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4592" y="38404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  lambda · map · filter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7160" y="4800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FEV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54680" y="164592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4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Fluxo, Funções e Programação Funcional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54680" y="640080"/>
            <a:ext cx="5806440" cy="235915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F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0984" y="694944"/>
            <a:ext cx="5513832" cy="2249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Controle de fluxo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nota in [7.5, 8.2, 9.1, 6.8]: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 = 'AP' if nota &gt;= 7 else 'RE'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print(f'Nota {nota:.1f} -&gt; {status}')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comprehension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aprovados = [n for n in notas if n &gt;= 7]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Função com docstring e default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calcular_media(dados, casas=2):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"""Calcula a média aritmética da lista."""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round(sum(dados) / len(dados), casas)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Lambda, map e filter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dobro   = lambda x: x * 2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dobros  = list(map(dobro, [1, 2, 3, 4]))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310896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3108960"/>
            <a:ext cx="1874520" cy="347472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315468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— boas práticas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3538728"/>
            <a:ext cx="1691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Uma função = uma responsabilidade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Docstring descreve propósito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Parâmetros com default facilitam uso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return explícito é mais legível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Evite side-effects desnecessários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20640" y="310896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20640" y="3108960"/>
            <a:ext cx="1874520" cy="347472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315468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3538728"/>
            <a:ext cx="1691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[expr for x in it]        # lista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{k:v for k,v in it}       # dict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{x for x in it}           # set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 for x in it)           # generator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comprehensions a loops simples.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86600" y="310896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86600" y="3108960"/>
            <a:ext cx="1874520" cy="347472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315468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com dados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78040" y="3538728"/>
            <a:ext cx="1691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Úteis com Pandas: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df['col'].apply(func)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df['col'].map(dict)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df.applymap(lambda x: ...)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Elegância ≠ complexidade.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011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 ·  ENCONTRO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37160" y="548640"/>
            <a:ext cx="2697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Módulos,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&amp; Erros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37160" y="2029968"/>
            <a:ext cx="265176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213969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CONCEITOS-CHAVE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24688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open() + with statement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4592" y="29260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try / except / finally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4592" y="33832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import + módulos built-in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4592" y="38404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JSON, CSV, os, datetime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7160" y="4800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FEV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54680" y="164592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4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Manipulação de Arquivos, Módulos e Tratamento de Erros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54680" y="640080"/>
            <a:ext cx="5806440" cy="235915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F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0984" y="694944"/>
            <a:ext cx="5513832" cy="2249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json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datetime import datetime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Context manager -- abre/fecha com seguranca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open('alunos.txt', 'w', encoding='utf-8') as f: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f.write('TURMA 13 - MBA Ciencia de Dados\n')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conteudo = open('alunos.txt').read()  # leitura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Tratamento de erros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valor = int(input('Digite um numero: '))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print(100 / valor)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(ValueError, ZeroDivisionError) as e: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print(f'Erro capturado: {e}')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print(f'Hoje: {datetime.now():%d/%m/%Y}')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310896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3108960"/>
            <a:ext cx="1874520" cy="347472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315468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3538728"/>
            <a:ext cx="1691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open() garante que o arquivo é fechado mesmo em caso de erro.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Equivalente a: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 = open()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...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f.close()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20640" y="310896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20640" y="3108960"/>
            <a:ext cx="1874520" cy="347472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315468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essenciais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3538728"/>
            <a:ext cx="1691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      → sistema de arquivos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    → serializar/ler JSON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     → ler/escrever CSV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→ datas e horários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    → funções matemáticas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      → expressões regulares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86600" y="310896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86600" y="3108960"/>
            <a:ext cx="1874520" cy="347472"/>
          </a:xfrm>
          <a:prstGeom prst="rect">
            <a:avLst/>
          </a:prstGeom>
          <a:solidFill>
            <a:srgbClr val="2040C5"/>
          </a:solidFill>
          <a:ln w="12700">
            <a:solidFill>
              <a:srgbClr val="2040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315468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Python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78040" y="3538728"/>
            <a:ext cx="1691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&lt;pacote&gt;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para dados: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· pandas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seaborn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scipy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· requests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82880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 ·  2 ENCONTROS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· Operações Vetorizadas · DataFrames · Limpeza · Agrupamentos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16736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Manipulação Avançada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NumPy &amp; Pandas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4014216" cy="1261872"/>
          </a:xfrm>
          <a:prstGeom prst="rect">
            <a:avLst/>
          </a:prstGeom>
          <a:solidFill>
            <a:srgbClr val="0A1640"/>
          </a:solidFill>
          <a:ln w="19050">
            <a:solidFill>
              <a:srgbClr val="1A52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788920"/>
            <a:ext cx="401421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16352"/>
            <a:ext cx="3831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· Encontro 4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3127248"/>
            <a:ext cx="3831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Qua, 04 Mar 2026 (noite)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831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NumPy: Arrays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Operações Vetorizadas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72584" y="2788920"/>
            <a:ext cx="4014216" cy="1261872"/>
          </a:xfrm>
          <a:prstGeom prst="rect">
            <a:avLst/>
          </a:prstGeom>
          <a:solidFill>
            <a:srgbClr val="0A1640"/>
          </a:solidFill>
          <a:ln w="19050">
            <a:solidFill>
              <a:srgbClr val="1A527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72584" y="2788920"/>
            <a:ext cx="401421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2816352"/>
            <a:ext cx="3831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 · Encontro 5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64024" y="3127248"/>
            <a:ext cx="3831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Qui, 05 Mar 2026 (noite)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64024" y="3383280"/>
            <a:ext cx="3831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Pandas: DataFrames,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&amp; Agrupamentos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44805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Cássio Pinheiro  ·  MBA Ciência de Dados  ·  UNIFOR  ·  Turma 13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011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 ·  ENCONTRO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37160" y="548640"/>
            <a:ext cx="2697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Operações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37160" y="2029968"/>
            <a:ext cx="265176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213969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CONCEITOS-CHAVE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24688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ndarray: shape, dtype, ndim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4592" y="29260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Vetorização (sem loop!)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4592" y="33832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Indexação booleana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4592" y="38404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mean · std · sum · linalg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7160" y="4800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MAR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54680" y="164592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Computação Numérica de Alta Performance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54680" y="640080"/>
            <a:ext cx="5806440" cy="235915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F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0984" y="694944"/>
            <a:ext cx="5513832" cy="2249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ndarray -- array N-dimensional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= np.array([1, 2, 3, 4, 5])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print(arr.shape, arr.dtype)       # (5,) int64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Vetorizacao (sem loop!)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print(arr * 2 + 10)              # [12 14 16 18 20]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Indexacao booleana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maiores = arr[arr &gt; 3]           # [4 5]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Estatisticas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dados = np.random.randn(1000)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print(np.mean(dados), np.std(dados))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310896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3108960"/>
            <a:ext cx="187452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315468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NumPy?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3538728"/>
            <a:ext cx="1691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Python:  loop em C de um lado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array: loop em C puro (≈100×)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1M somas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  → ~100ms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 →    ~1ms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Pandas, Sklearn e TensorFlow.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20640" y="310896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20640" y="3108960"/>
            <a:ext cx="187452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315468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3538728"/>
            <a:ext cx="1691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arrays de shapes diferentes: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[[1,2,3],     # (3,3)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[4,5,6],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[7,8,9]]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[10, 20, 30]   # (3,)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b → soma linha a linha automaticamente.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86600" y="310896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86600" y="3108960"/>
            <a:ext cx="187452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315468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úteis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78040" y="3538728"/>
            <a:ext cx="1691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np.zeros / np.ones / np.eye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np.arange / np.linspace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np.random.randn / randint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np.sort / np.argsort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np.unique / np.concatenate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np.where(cond, x, y)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011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 ·  ENCONTRO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37160" y="548640"/>
            <a:ext cx="2697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&amp; Análise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37160" y="2029968"/>
            <a:ext cx="265176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213969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CONCEITOS-CHAVE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24688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DataFrame + Series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4592" y="29260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loc · iloc · filtros booleanos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4592" y="33832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dropna · fillna · dtypes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4592" y="38404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groupby · agg · pivot_table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7160" y="4800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MAR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54680" y="164592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Manipulação e Análise de Dados Estruturados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54680" y="640080"/>
            <a:ext cx="5806440" cy="235915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F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0984" y="694944"/>
            <a:ext cx="5513832" cy="2249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pd.read_csv('datasets/titanic.csv')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Limpeza de dados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df['Age'].fillna(df['Age'].mean(), inplace=True)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df.dropna(subset=['Embarked'], inplace=True)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Filtro booleano composto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ricos = df[(df['Pclass']==1) &amp; (df['Fare']&gt;100)]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GroupBy + agg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taxa = df.groupby('Pclass')['Survived'].agg(['mean','count'])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Pivot table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 = pd.pivot_table(df, values='Survived',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index='Pclass', columns='Sex', aggfunc='mean')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310896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3108960"/>
            <a:ext cx="187452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315468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Split–Apply–Combine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3538728"/>
            <a:ext cx="1691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groupby() divide o DataFrame em grupos, aplica uma função e combina: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Split:   df.groupby('Pclass')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Apply:  .agg(['mean','sum','count'])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Combine: resultado como novo DataFrame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20640" y="310896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20640" y="3108960"/>
            <a:ext cx="187452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315468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&amp; Join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3538728"/>
            <a:ext cx="1691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pd.merge(df1, df2, on='id')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 → apenas matches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  → todos da esq.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 → todos da dir.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 → todos de ambos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Idêntico ao JOIN do SQL.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86600" y="310896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86600" y="3108960"/>
            <a:ext cx="187452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315468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Inspeção rápida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78040" y="3538728"/>
            <a:ext cx="1691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df.head() / df.tail()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df.info()       # tipos e nulos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df.describe()   # estatísticas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df.shape        # (linhas, colunas)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df.isnull().sum()  # contagem nulos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df.value_counts('col')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828800" cy="347472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 ·  1 ENCONTRO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Seaborn · EDA · Correlações · Storytelling com Dados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16736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 de Dados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Análise Exploratória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8229600" cy="1261872"/>
          </a:xfrm>
          <a:prstGeom prst="rect">
            <a:avLst/>
          </a:prstGeom>
          <a:solidFill>
            <a:srgbClr val="0A1640"/>
          </a:solidFill>
          <a:ln w="19050">
            <a:solidFill>
              <a:srgbClr val="064E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788920"/>
            <a:ext cx="8229600" cy="29260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1635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 · Encontro 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31272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Sex, 06 Mar 2026 (noite)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Seaborn,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Correlações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4805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Cássio Pinheiro  ·  MBA Ciência de Dados  ·  UNIFOR  ·  Turma 13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011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 ·  ENCONTRO 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37160" y="548640"/>
            <a:ext cx="2697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EDA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37160" y="2029968"/>
            <a:ext cx="265176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213969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CONCEITOS-CHAVE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24688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Matplotlib: plot, bar, hist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4592" y="29260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Seaborn: boxplot, heatmap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4592" y="33832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EDA: describe + corr()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4592" y="38404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Storytelling com dados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7160" y="4800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MAR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54680" y="164592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 e Análise Exploratória de Dados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54680" y="640080"/>
            <a:ext cx="5806440" cy="235915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F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0984" y="694944"/>
            <a:ext cx="5513832" cy="2249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seaborn as sns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Histograma com linha de media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plt.hist(df['Age'].dropna(), bins=25, alpha=0.7)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plt.axvline(df['Age'].mean(), color='red', linestyle='--')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plt.title('Distribuicao de Idade - Titanic')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Box plot e heatmap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sns.boxplot(x='Pclass', y='Fare', hue='Sex', data=df)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 = df[['Pclass','Age','Fare','Survived']].corr()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sns.heatmap(corr, annot=True, cmap='coolwarm', center=0)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EDA rapida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310896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3108960"/>
            <a:ext cx="1874520" cy="347472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315468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cada gráfico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3538728"/>
            <a:ext cx="1691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Barras  → comparar categorias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  → série temporal / tendência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→ relação entre 2 variáveis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    → distribuição de 1 variável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 → quartis + outliers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→ matriz de correlação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20640" y="310896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20640" y="3108960"/>
            <a:ext cx="1874520" cy="347472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315468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EDA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3538728"/>
            <a:ext cx="1691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df.shape, df.dtypes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df.describe() + df.info()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df.isnull().sum()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Histogramas por variável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Scatter / boxplot por grupo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df.corr() + heatmap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Hipóteses → validar com dados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86600" y="310896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86600" y="3108960"/>
            <a:ext cx="1874520" cy="347472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315468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Data-Ink Ratio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78040" y="3538728"/>
            <a:ext cx="1691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informação,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decoração.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Remova gridlines extras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Evite 3D gratuito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Ordene barras logicamente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paletas acessíveis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mensagem principal por gráfico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7D4E00"/>
          </a:solidFill>
          <a:ln w="12700">
            <a:solidFill>
              <a:srgbClr val="7D4E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828800" cy="347472"/>
          </a:xfrm>
          <a:prstGeom prst="rect">
            <a:avLst/>
          </a:prstGeom>
          <a:solidFill>
            <a:srgbClr val="7D4E00"/>
          </a:solidFill>
          <a:ln w="12700">
            <a:solidFill>
              <a:srgbClr val="7D4E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 ·  PROJETO FINAL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M1+M2+M3 · 10 Modelos de Projeto · Template README · Especificações · GitHub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316736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Integrado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Dados Real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8229600" cy="1261872"/>
          </a:xfrm>
          <a:prstGeom prst="rect">
            <a:avLst/>
          </a:prstGeom>
          <a:solidFill>
            <a:srgbClr val="0A1640"/>
          </a:solidFill>
          <a:ln w="19050">
            <a:solidFill>
              <a:srgbClr val="7D4E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788920"/>
            <a:ext cx="8229600" cy="292608"/>
          </a:xfrm>
          <a:prstGeom prst="rect">
            <a:avLst/>
          </a:prstGeom>
          <a:solidFill>
            <a:srgbClr val="7D4E00"/>
          </a:solidFill>
          <a:ln w="12700">
            <a:solidFill>
              <a:srgbClr val="7D4E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1635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 · Encontro 7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31272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Sáb, 07 Mar 2026 (manhã)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Orientação, Modelos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Entrega do Projeto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4805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Cássio Pinheiro  ·  MBA Ciência de Dados  ·  UNIFOR  ·  Turma 13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7D4E00"/>
          </a:solidFill>
          <a:ln w="12700">
            <a:solidFill>
              <a:srgbClr val="7D4E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011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 ·  ENCONTRO 7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37160" y="548640"/>
            <a:ext cx="2697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137160" y="2029968"/>
            <a:ext cx="2651760" cy="18288"/>
          </a:xfrm>
          <a:prstGeom prst="rect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213969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CONCEITOS-CHAVE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4592" y="24688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projetos/ disponivel no Git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4592" y="29260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TEMPLATE_README obrigatorio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4592" y="33832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Grupos de 1 a 3 pessoas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4592" y="3840480"/>
            <a:ext cx="2633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Entrega: 14/03/2026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7160" y="4800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MAR 2026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54680" y="164592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D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 — Materiais, Avaliação e Entrega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54680" y="640080"/>
            <a:ext cx="5806440" cy="2359152"/>
          </a:xfrm>
          <a:prstGeom prst="rect">
            <a:avLst/>
          </a:prstGeom>
          <a:solidFill>
            <a:srgbClr val="0D1B3E"/>
          </a:solidFill>
          <a:ln w="12700">
            <a:solidFill>
              <a:srgbClr val="1E3F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0984" y="694944"/>
            <a:ext cx="5513832" cy="2249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Repositorio do professor (compartilhado em aula)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projetos/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 avaliacao/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|-- ESPECIFICACOES_PROJETO_FINAL.md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 modulos_1/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|-- TEMPLATE_README.md       # use como base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|-- projeto_01_gestao_financeira/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|-- projeto_02_analise_vendas/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|-- projeto_03_controle_qualidade/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|-- projeto_04_sistema_jogo/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|-- ... (10 modelos completos disponíveis)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310896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3108960"/>
            <a:ext cx="1874520" cy="347472"/>
          </a:xfrm>
          <a:prstGeom prst="rect">
            <a:avLst/>
          </a:prstGeom>
          <a:solidFill>
            <a:srgbClr val="7D4E00"/>
          </a:solidFill>
          <a:ln w="12700">
            <a:solidFill>
              <a:srgbClr val="7D4E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315468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 os modelos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3538728"/>
            <a:ext cx="1691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Escolha 1 dos 10 projetos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como referencia de area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Leia ESPECIFICACOES_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PROJETO_FINAL.md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 TEMPLATE_README.md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Expanda com M2 e M3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Publique GitHub publico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Originalidade obrigatoria!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120640" y="310896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20640" y="3108960"/>
            <a:ext cx="1874520" cy="347472"/>
          </a:xfrm>
          <a:prstGeom prst="rect">
            <a:avLst/>
          </a:prstGeom>
          <a:solidFill>
            <a:srgbClr val="7D4E00"/>
          </a:solidFill>
          <a:ln w="12700">
            <a:solidFill>
              <a:srgbClr val="7D4E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315468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(10 pts)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3538728"/>
            <a:ext cx="1691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Documentacao       -&gt; 2,0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README completo   -&gt; 0,5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Alinhamento       -&gt; 0,75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Proposito         -&gt; 0,75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Implementacao      -&gt; 8,0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M1+M2+M3          -&gt; 3,0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Qualidade codigo  -&gt; 2,0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Funcionalidades   -&gt; 2,0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Visualizacoes     -&gt; 1,0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86600" y="310896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86600" y="3108960"/>
            <a:ext cx="1874520" cy="347472"/>
          </a:xfrm>
          <a:prstGeom prst="rect">
            <a:avLst/>
          </a:prstGeom>
          <a:solidFill>
            <a:srgbClr val="7D4E00"/>
          </a:solidFill>
          <a:ln w="12700">
            <a:solidFill>
              <a:srgbClr val="7D4E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315468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78040" y="3538728"/>
            <a:ext cx="1691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c/ specs: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ate 06/03/2026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cassiopo7@gmail.com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(1 membro por grupo)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final (GitHub):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ate 14/03/2026, 23:59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Atraso: -1pt/dia (max 3d)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 17/03: nao aceito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para Ciência de Dados - TURMA 13</dc:title>
  <dc:subject>PptxGenJS Presentation</dc:subject>
  <dc:creator>PptxGenJS</dc:creator>
  <cp:lastModifiedBy>PptxGenJS</cp:lastModifiedBy>
  <cp:revision>1</cp:revision>
  <dcterms:created xsi:type="dcterms:W3CDTF">2026-02-19T17:06:43Z</dcterms:created>
  <dcterms:modified xsi:type="dcterms:W3CDTF">2026-02-19T17:06:43Z</dcterms:modified>
</cp:coreProperties>
</file>